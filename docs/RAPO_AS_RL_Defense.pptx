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</a:rPr>
              <a:t>Regime-Aware Portfolio Optimization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with Avellaneda-Stoikov Market Impact Costs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MScFE 690 Capstone  |  WorldQuant University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Research question &amp; hypothesis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743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Four-layer architecture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A&amp;S cost calibration methodology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2743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Backtest results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743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Frequency sensitivity analysis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Daily RL experiment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2743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Conclusions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Research Question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Central Question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Can regime-aware RL outperform CVaR optimization when execution costs are calibrated from exchange data?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Hypothesis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80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RL will outperform CVaR on Sharpe, with performance differential concentrated during regime transitions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Outcome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Hypothesis NOT confirmed.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 RL did not outperform CVaR. However, the broader thesis — that A&amp;S calibration reveals execution costs that make active rebalancing unprofitable — IS confirmed.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The gap between validation Sharpe (+1.72, 10bps) and test Sharpe (-0.68, A&amp;S) reveals that cost model choice dominates strategy choice.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Four-Layer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0292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7726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9418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HMM Regime Classifier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2527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OHLCV + trade ticks → Calm / Volatile / Stressed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0292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60120" y="1874520"/>
            <a:ext cx="7726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19476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Avellaneda-Stoikov Cost Model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2585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Regime labels + trade ticks → calibrated σ, s, δ, γ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50292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0120" y="2880360"/>
            <a:ext cx="7726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29535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LightGBM Return Forecaster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2644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Features → next-period return (R² ≈ 0, replaced with lagged returns)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502920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23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60120" y="3886200"/>
            <a:ext cx="7726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51560" y="39593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Regime-Aware PPO Agent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2702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Portfolio state (14-dim, includes regime index) → target weights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A&amp;S Cost Calibration — Per-Regime Parameters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Calibrated from Binance OHLCV and trade tick data using Lee-Ready tick classification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Calm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Volatile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Stressed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σ (annual vol)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0.57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0.79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1.14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 ($/BTC spread)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$104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$1,092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δ (depth BTC/$)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0.044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0.044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0.044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γ (risk aversion)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1e-6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1e-6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1e-5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A&amp;S Cost (50bps trade)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</a:rPr>
                        <a:t>~123 bps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</a:rPr>
                        <a:t>~300 bps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~1,292 bps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097280"/>
            <a:ext cx="24688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0936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Key Finding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1554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Cost / Trade Ratio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Calm: </a:t>
            </a:r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2.5× nominal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Stressed: 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26× nominal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A single 50bps rebalance in Calm regime costs more than 2.5× the trade size in market impact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Depth δ estimated from A&amp;S equilibrium: δ = 2 / (s_proxy · P) ≈ 0.044 BTC²/$ — reflecting shallow crypto order books vs traditional markets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The Cost Headwind: Return vs. Execution Cost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265176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Calm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Expected Return / bar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4 bps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A&amp;S Cost / 50bps trade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~123 bps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31× headwind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86868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868680"/>
            <a:ext cx="265176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868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Volatile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Expected Return / bar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8 bps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9184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A&amp;S Cost / 50bps trade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468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580C"/>
                </a:solidFill>
              </a:rPr>
              <a:t>~300 bps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9184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38× headwind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86868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868680"/>
            <a:ext cx="265176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868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Stressed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2648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Expected Return / bar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−20 bps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2648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A&amp;S Cost / 50bps trade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468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~1,292 bps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2648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Negative return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703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Conclusion: At ANY realistic signal strength, expected return &lt;&lt; execution cost — active rebalancing destroys value in all three regimes.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Backtest Results — Test Period (2024-02 to 2026-04)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2+ years, 227k bars, full bull/bear cycle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005840"/>
                <a:gridCol w="1005840"/>
                <a:gridCol w="128016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Ann. Return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Max DD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Turnover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Flat(A&amp;S)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+26.2%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+0.48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−56.6%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~0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WINNER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Flat(10bps)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+25.1%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+0.44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−57.6%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~0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Optimistic 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A&amp;S+CVaR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+23.4%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+0.42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−57.1%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0.000006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Minimally active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RL Agent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−3.6%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−0.68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</a:rPr>
                        <a:t>−7.9%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0.000004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Converged to cash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RL has best Max Drawdown (−7.9%) but worst Sharpe (−0.68).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Flat(A&amp;S) wins on BOTH return and Sharpe — this is the true economic baseline.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Key: Cost-to-return headwind makes CVaR's rebalancing unjustifiable. RL correctly identifies that cash is the optimal policy.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Statistical Significance — Block Bootstrap + BH Correction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Methodology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Block Bootstrap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288-bar blocks × 1,000 replicates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Multiple Testing Correction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Benjamini-Hochberg at q = 0.10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(6 pairwise comparisons)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Bootstrap 95% CI for Sharpe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Flat(10bps)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371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0.416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[−0.835, 1.647]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Flat(A&amp;S)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1783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0.449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[−0.787, 1.677]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A&amp;S+CVaR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194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0.391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[−0.843, 1.613]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606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−0.005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[0.000, 0.000]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3756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832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NO statistically significant difference between any pair of strategies on Sharpe (all p &gt; 0.10 after BH correction).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observed Sharpe differences are within the confidence intervals. The "winner" is not statistically distinguishable from the alternatives.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Frequency Sensitivity — No Crossover Exists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Rebalancing frequency swept from 1H (12 bars) to 1Q (9,504 bars) on the test period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371600"/>
                <a:gridCol w="1371600"/>
                <a:gridCol w="118872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Flat(10bps)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Flat(A&amp;S)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CVaR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0.439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0.476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0.373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−0.680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0.439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0.476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0.423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−0.680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288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0.439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0.475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0.416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−0.680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864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0.439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0.463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0.384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−0.680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2,016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0.439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0.477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0.431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−0.680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1Q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9,504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0.439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0.478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0.363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−0.680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Conclusion: Flat(A&amp;S) wins at EVERY frequency. No crossover frequency exists in the tested range. Active rebalancing is unprofitable at any practical decision frequency.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Daily RL Experiment — Hypothesis Tested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Hypothesis: Reducing RL decision frequency (every 288 bars) should reduce A&amp;S cost headwind and improve Sharpe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5-min RL  (ppo_full.zip)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Sharpe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−0.68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Ann. Return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−3.6%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Max DD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−7.9%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Effective Decisions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~100,000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Daily RL  (ppo_daily.zip)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Sharpe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−3.88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Ann. Return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−22.8%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Max DD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−39.1%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Effective Decisions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~789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94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Daily RL performed WORSE.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Only ~789 effective decisions (vs 100k at 5-min) makes it a much harder RL problem. Each wrong daily decision concentrates losses across 288 bars. The A&amp;S cost headwind is frequency-invariant — reducing decisions does NOT solve the cost problem.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Why RL Converged to Cash — Not a Bug, a Finding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868680"/>
            <a:ext cx="78181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868680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RL observation has no useful signal — LightGBM R² ≈ 0 in all regimes, replaced with lagged returns (0.7×lag_1 + 0.3×lag_3)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1691640"/>
            <a:ext cx="78181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1691640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Beat-benchmark reward is small (~4bps per bar) — less than A&amp;S cost per trade (~123bps) — any trade has negative expected reward after costs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1460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2514600"/>
            <a:ext cx="78181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2514600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optimal expected reward from any trade is NEGATIVE after costs — RL correctly learns this from experience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3756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8680" y="3337560"/>
            <a:ext cx="78181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3337560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RL converges to the policy that minimizes expected loss: hold cash, avoid all trades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605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68680" y="4160520"/>
            <a:ext cx="78181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4160520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This is a MARKET MICROSTRUCTURE FINDING — not an implementation failure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572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57200" cy="868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822960"/>
            <a:ext cx="7772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87782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Core thesis confirmed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4358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Per-regime A&amp;S calibration reveals that execution costs dominate active rebalancing returns in crypto markets at any practical frequency (1H to 1Q). Flat(A&amp;S) wins at all frequencies.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5720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7772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88366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RL hypothesis not confirmed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24942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RL did not outperform CVaR. But its convergence to cash is the economically rational policy under the true cost landscape — confirmed by two independent methods (RL + CVaR optimizer).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57200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7772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288950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Flat(A&amp;S) is the true baseline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25526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Buy-and-hold 60/40 BTC/ETH with realistic A&amp;S costs (Sharpe +0.48) outperforms all active strategies — RL, CVaR, and rule-based alike.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457200" cy="8686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776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4400" y="3840480"/>
            <a:ext cx="7772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389534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Cost model matters more than strategy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6110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gap between validation Sharpe (+1.72, 10bps) and test Sharpe (−0.68, A&amp;S) is almost entirely from the cost model. Calibrate costs from exchange data before designing rebalancing strategies.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What Would Make RL Work in This Framework?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73152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418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Much larger signal-to-noise ratio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0759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R² &gt;&gt; 0.05 in return forecasts — currently the regime conditional signal is indistinguishable from noise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73152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4767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Lower execution costs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3134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Institutional-grade execution, or larger position sizes where spread becomes negligible relative to expected return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80360"/>
            <a:ext cx="73152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5351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Higher frequency alpha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31927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Statistical arbitrage at second-scale frequency where the signal is stronger and more frequent, not regime-conditional tilts at 5-min bars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86200"/>
            <a:ext cx="73152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5935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Accept cash-optimal as a finding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32511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current result (cash-optimal policy) is itself a valid market microstructure contribution — it reveals the cost landscape of crypto markets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Code: github.com/zihanlim/rapo-as-rl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>
                    <a:alpha val="60000"/>
                  </a:srgbClr>
                </a:solidFill>
              </a:rPr>
              <a:t>MScFE 690 Capstone  |  WorldQuant University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RAPO-AS-RL Thesis Defense</dc:title>
  <dc:subject>PptxGenJS Presentation</dc:subject>
  <dc:creator>MScFE 690 Capstone</dc:creator>
  <cp:lastModifiedBy>MScFE 690 Capstone</cp:lastModifiedBy>
  <cp:revision>1</cp:revision>
  <dcterms:created xsi:type="dcterms:W3CDTF">2026-04-12T16:56:13Z</dcterms:created>
  <dcterms:modified xsi:type="dcterms:W3CDTF">2026-04-12T16:56:13Z</dcterms:modified>
</cp:coreProperties>
</file>